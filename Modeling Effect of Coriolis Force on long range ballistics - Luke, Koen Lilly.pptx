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embeddedFontLst>
    <p:embeddedFont>
      <p:font typeface="Lato" panose="020F0502020204030204" pitchFamily="34" charset="0"/>
      <p:regular r:id="rId17"/>
      <p:bold r:id="rId18"/>
      <p:italic r:id="rId19"/>
      <p:boldItalic r:id="rId20"/>
    </p:embeddedFont>
    <p:embeddedFont>
      <p:font typeface="Raleway" panose="020F0502020204030204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E87ED-DD3E-4919-8852-504511A5B36D}" v="1" dt="2026-02-24T20:24:26.1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adea9a5fcc_1_8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adea9a5fcc_1_8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adea9a5fcc_1_8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adea9a5fcc_1_8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adea9a5fcc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adea9a5fcc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dea9a5fcc_2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adea9a5fcc_2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adea9a5fcc_1_1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adea9a5fcc_1_1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ae08a2a6de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ae08a2a6de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To model the motion of the projectile we used the Euler’s method.</a:t>
            </a:r>
            <a:endParaRPr/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We started by setting up the libraries, constants, and inputs for positions of both ships. </a:t>
            </a:r>
            <a:endParaRPr/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Then set up empty data arrays for acceleration, velocity, position</a:t>
            </a:r>
            <a:endParaRPr/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Then iterate through using the acceleration equations from the book for coriolis force</a:t>
            </a:r>
            <a:endParaRPr/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Breaks out of loop when z value hits zero</a:t>
            </a:r>
            <a:endParaRPr/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Uses the last value from the iteration to calculate the shift between where we aimed and were it hit.</a:t>
            </a:r>
            <a:endParaRPr/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Graphs to show how far off from where you aimed it lands</a:t>
            </a:r>
            <a:endParaRPr/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dea9a5fcc_1_1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adea9a5fcc_1_1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ae5b9451f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ae5b9451f5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This is a new function we wrote for part 2 to account for the shift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/>
              <a:t>Uses the shifted value to calculate new aiming cordinates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ae08a2a6de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ae08a2a6de_2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This is a new function we wrote for part 2 to account for the shift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Still uses the Euler Method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Uses the new aiming coordinates to reiterate through using the acceleration equations from the book for coriolis force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Breaks out of loop when z value hits zero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Uses the last value from the iteration to calculate the shift between where we aimed and were it hit.</a:t>
            </a:r>
            <a:endParaRPr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Then it graphs, the before and after of coriolis shift. 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adea9a5fcc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adea9a5fcc_2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Back to model 1 (no coriolis) 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ae5b9451f5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ae5b9451f5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Solving for beta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Had to iterate through all possible launch angles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spits out the right launch angle so nothing crashes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ae08a2a6de_2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ae08a2a6de_2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This is like the other target function where it finds the new coordinates, but it accounts for the: 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Coriolis,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Velocity</a:t>
            </a:r>
            <a:endParaRPr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>
                <a:solidFill>
                  <a:schemeClr val="dk1"/>
                </a:solidFill>
              </a:rPr>
              <a:t>Then you can run the projectile code again and it will print graphs and tell you how far off you are. 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dea9a5fcc_2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adea9a5fcc_2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adea9a5fcc_2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adea9a5fcc_2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Google Shape;59;p8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1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rgbClr val="A4C2F4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llhands.navy.mil/Features/Zumwalt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ww.battleshipnewjersey.org/the-ship/full-history/#:~:text=USS%20New%20Jersey%20has%20an,with%20approximately%201%2C100%20individual%20compartment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Modeling Effect of Coriolis Force on long range ballistics</a:t>
            </a:r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Lilly, Luke, Koen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>
            <a:spLocks noGrp="1"/>
          </p:cNvSpPr>
          <p:nvPr>
            <p:ph type="title"/>
          </p:nvPr>
        </p:nvSpPr>
        <p:spPr>
          <a:xfrm>
            <a:off x="729450" y="6241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540">
                <a:latin typeface="Times New Roman"/>
                <a:ea typeface="Times New Roman"/>
                <a:cs typeface="Times New Roman"/>
                <a:sym typeface="Times New Roman"/>
              </a:rPr>
              <a:t>Table Of contents</a:t>
            </a:r>
            <a:endParaRPr sz="254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4"/>
          <p:cNvSpPr txBox="1">
            <a:spLocks noGrp="1"/>
          </p:cNvSpPr>
          <p:nvPr>
            <p:ph type="body" idx="1"/>
          </p:nvPr>
        </p:nvSpPr>
        <p:spPr>
          <a:xfrm>
            <a:off x="729450" y="1273225"/>
            <a:ext cx="7688700" cy="306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Times New Roman"/>
              <a:buChar char="●"/>
            </a:pPr>
            <a:r>
              <a:rPr lang="en" sz="2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	</a:t>
            </a:r>
            <a:endParaRPr sz="20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Times New Roman"/>
              <a:buChar char="●"/>
            </a:pPr>
            <a:r>
              <a:rPr lang="en" sz="2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Building the Model</a:t>
            </a:r>
            <a:endParaRPr sz="20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55600" algn="l" rtl="0"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Times New Roman"/>
              <a:buChar char="●"/>
            </a:pPr>
            <a:r>
              <a:rPr lang="en" sz="2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sz="20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endParaRPr sz="20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>
            <a:spLocks noGrp="1"/>
          </p:cNvSpPr>
          <p:nvPr>
            <p:ph type="title"/>
          </p:nvPr>
        </p:nvSpPr>
        <p:spPr>
          <a:xfrm>
            <a:off x="727650" y="5632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540">
                <a:latin typeface="Times New Roman"/>
                <a:ea typeface="Times New Roman"/>
                <a:cs typeface="Times New Roman"/>
                <a:sym typeface="Times New Roman"/>
              </a:rPr>
              <a:t>Introduction </a:t>
            </a:r>
            <a:endParaRPr sz="254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9" name="Google Shape;99;p15"/>
          <p:cNvSpPr txBox="1">
            <a:spLocks noGrp="1"/>
          </p:cNvSpPr>
          <p:nvPr>
            <p:ph type="body" idx="1"/>
          </p:nvPr>
        </p:nvSpPr>
        <p:spPr>
          <a:xfrm>
            <a:off x="727650" y="1342100"/>
            <a:ext cx="747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Times New Roman"/>
              <a:buChar char="●"/>
            </a:pPr>
            <a:r>
              <a:rPr lang="en" sz="18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Goal: Make a simple model on the effects the coriolis force has on long range ballistics. </a:t>
            </a:r>
            <a:endParaRPr sz="18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Times New Roman"/>
              <a:buChar char="●"/>
            </a:pPr>
            <a:r>
              <a:rPr lang="en" sz="18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Our scenario is two battleships on the ocean, one named the SS Happiness (Ship A) , the other is named SS Frank Homework (Ship B). Ship A is firing a missile at Ship B. </a:t>
            </a:r>
            <a:endParaRPr sz="18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0" name="Google Shape;10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03900" y="3001700"/>
            <a:ext cx="3336200" cy="1437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 txBox="1"/>
          <p:nvPr/>
        </p:nvSpPr>
        <p:spPr>
          <a:xfrm>
            <a:off x="3095116" y="4515227"/>
            <a:ext cx="3057300" cy="5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0950" tIns="80950" rIns="80950" bIns="8095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51" b="1">
                <a:latin typeface="Times New Roman"/>
                <a:ea typeface="Times New Roman"/>
                <a:cs typeface="Times New Roman"/>
                <a:sym typeface="Times New Roman"/>
              </a:rPr>
              <a:t>Fig. 1 Acceleration Equations (9.53) from Taylor</a:t>
            </a:r>
            <a:endParaRPr sz="1151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6"/>
          <p:cNvSpPr txBox="1">
            <a:spLocks noGrp="1"/>
          </p:cNvSpPr>
          <p:nvPr>
            <p:ph type="title"/>
          </p:nvPr>
        </p:nvSpPr>
        <p:spPr>
          <a:xfrm>
            <a:off x="727650" y="6473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540">
                <a:latin typeface="Times New Roman"/>
                <a:ea typeface="Times New Roman"/>
                <a:cs typeface="Times New Roman"/>
                <a:sym typeface="Times New Roman"/>
              </a:rPr>
              <a:t>Building The Model - What are we doing</a:t>
            </a:r>
            <a:endParaRPr sz="1400" b="0">
              <a:solidFill>
                <a:schemeClr val="accen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254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7" name="Google Shape;107;p16"/>
          <p:cNvSpPr txBox="1">
            <a:spLocks noGrp="1"/>
          </p:cNvSpPr>
          <p:nvPr>
            <p:ph type="body" idx="1"/>
          </p:nvPr>
        </p:nvSpPr>
        <p:spPr>
          <a:xfrm>
            <a:off x="787300" y="13496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Times New Roman"/>
              <a:buChar char="●"/>
            </a:pPr>
            <a:r>
              <a:rPr lang="en" sz="18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Model 1 -Not accounting for coriolis force </a:t>
            </a:r>
            <a:endParaRPr sz="18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Times New Roman"/>
              <a:buChar char="●"/>
            </a:pPr>
            <a:r>
              <a:rPr lang="en" sz="18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Model 2 -Accounting for coriolis force </a:t>
            </a:r>
            <a:endParaRPr sz="18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Times New Roman"/>
              <a:buChar char="●"/>
            </a:pPr>
            <a:r>
              <a:rPr lang="en" sz="18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Model 3- Moving Enemy ship </a:t>
            </a:r>
            <a:endParaRPr sz="18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>
            <a:spLocks noGrp="1"/>
          </p:cNvSpPr>
          <p:nvPr>
            <p:ph type="title"/>
          </p:nvPr>
        </p:nvSpPr>
        <p:spPr>
          <a:xfrm>
            <a:off x="727650" y="613450"/>
            <a:ext cx="7688700" cy="535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>
                <a:latin typeface="Times New Roman"/>
                <a:ea typeface="Times New Roman"/>
                <a:cs typeface="Times New Roman"/>
                <a:sym typeface="Times New Roman"/>
              </a:rPr>
              <a:t>Fixed Model Without Coriolis Correction (Model 1)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3" name="Google Shape;11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38450" y="1040625"/>
            <a:ext cx="3645187" cy="36900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5975" y="4730675"/>
            <a:ext cx="6070116" cy="308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7"/>
          <p:cNvSpPr txBox="1">
            <a:spLocks noGrp="1"/>
          </p:cNvSpPr>
          <p:nvPr>
            <p:ph type="body" idx="1"/>
          </p:nvPr>
        </p:nvSpPr>
        <p:spPr>
          <a:xfrm>
            <a:off x="266475" y="1213801"/>
            <a:ext cx="1191900" cy="4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u="sng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Assumptions </a:t>
            </a:r>
            <a:endParaRPr sz="1400" b="1" u="sng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4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4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6" name="Google Shape;116;p17"/>
          <p:cNvSpPr txBox="1"/>
          <p:nvPr/>
        </p:nvSpPr>
        <p:spPr>
          <a:xfrm>
            <a:off x="266475" y="3832801"/>
            <a:ext cx="18288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</a:t>
            </a:r>
            <a:r>
              <a:rPr lang="en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  </a:t>
            </a: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Rocket =  820 m/s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 = 9.8m/s 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mass = 1225 kg 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𝛀 = 7.3*10</a:t>
            </a:r>
            <a:r>
              <a:rPr lang="en" baseline="30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-5 </a:t>
            </a: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rad/s</a:t>
            </a:r>
            <a:endParaRPr/>
          </a:p>
        </p:txBody>
      </p:sp>
      <p:sp>
        <p:nvSpPr>
          <p:cNvPr id="117" name="Google Shape;117;p17"/>
          <p:cNvSpPr txBox="1"/>
          <p:nvPr/>
        </p:nvSpPr>
        <p:spPr>
          <a:xfrm>
            <a:off x="266475" y="3535601"/>
            <a:ext cx="949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b="1" u="sng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Constants</a:t>
            </a:r>
            <a:endParaRPr/>
          </a:p>
        </p:txBody>
      </p:sp>
      <p:sp>
        <p:nvSpPr>
          <p:cNvPr id="118" name="Google Shape;118;p17"/>
          <p:cNvSpPr txBox="1"/>
          <p:nvPr/>
        </p:nvSpPr>
        <p:spPr>
          <a:xfrm>
            <a:off x="198700" y="1513851"/>
            <a:ext cx="3000000" cy="18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Fixed ship position 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Colatitude of Ship A: 30 degrees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 position of Ship b: 50km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 position of Ship b: 4km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If within +/- 20 meters in X and Y, and -5 to +30 in Z count as a hit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8"/>
          <p:cNvSpPr txBox="1">
            <a:spLocks noGrp="1"/>
          </p:cNvSpPr>
          <p:nvPr>
            <p:ph type="title"/>
          </p:nvPr>
        </p:nvSpPr>
        <p:spPr>
          <a:xfrm>
            <a:off x="729450" y="52252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1 Code</a:t>
            </a:r>
            <a:endParaRPr/>
          </a:p>
        </p:txBody>
      </p:sp>
      <p:pic>
        <p:nvPicPr>
          <p:cNvPr id="124" name="Google Shape;124;p18"/>
          <p:cNvPicPr preferRelativeResize="0"/>
          <p:nvPr/>
        </p:nvPicPr>
        <p:blipFill rotWithShape="1">
          <a:blip r:embed="rId3">
            <a:alphaModFix/>
          </a:blip>
          <a:srcRect t="21991" r="10770" b="5785"/>
          <a:stretch/>
        </p:blipFill>
        <p:spPr>
          <a:xfrm>
            <a:off x="1721075" y="1309450"/>
            <a:ext cx="5701851" cy="3694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9"/>
          <p:cNvSpPr txBox="1">
            <a:spLocks noGrp="1"/>
          </p:cNvSpPr>
          <p:nvPr>
            <p:ph type="title"/>
          </p:nvPr>
        </p:nvSpPr>
        <p:spPr>
          <a:xfrm>
            <a:off x="727650" y="613450"/>
            <a:ext cx="7688700" cy="535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2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>
                <a:latin typeface="Times New Roman"/>
                <a:ea typeface="Times New Roman"/>
                <a:cs typeface="Times New Roman"/>
                <a:sym typeface="Times New Roman"/>
              </a:rPr>
              <a:t>Fixed Model With Coriolis Correction (Model 2)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0" name="Google Shape;130;p19"/>
          <p:cNvSpPr txBox="1">
            <a:spLocks noGrp="1"/>
          </p:cNvSpPr>
          <p:nvPr>
            <p:ph type="body" idx="1"/>
          </p:nvPr>
        </p:nvSpPr>
        <p:spPr>
          <a:xfrm>
            <a:off x="266475" y="1203325"/>
            <a:ext cx="1191900" cy="4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u="sng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Assumptions </a:t>
            </a:r>
            <a:endParaRPr sz="1400" b="1" u="sng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4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4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266475" y="3822325"/>
            <a:ext cx="18288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</a:t>
            </a:r>
            <a:r>
              <a:rPr lang="en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  </a:t>
            </a: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Rocket =  820 m/s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 = 9.8m/s 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mass = 1225 kg 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𝛀 = 7.3*10</a:t>
            </a:r>
            <a:r>
              <a:rPr lang="en" baseline="30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-5 </a:t>
            </a: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rad/s</a:t>
            </a:r>
            <a:endParaRPr/>
          </a:p>
        </p:txBody>
      </p:sp>
      <p:sp>
        <p:nvSpPr>
          <p:cNvPr id="132" name="Google Shape;132;p19"/>
          <p:cNvSpPr txBox="1"/>
          <p:nvPr/>
        </p:nvSpPr>
        <p:spPr>
          <a:xfrm>
            <a:off x="266475" y="3525125"/>
            <a:ext cx="949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b="1" u="sng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Constants</a:t>
            </a:r>
            <a:endParaRPr/>
          </a:p>
        </p:txBody>
      </p:sp>
      <p:sp>
        <p:nvSpPr>
          <p:cNvPr id="133" name="Google Shape;133;p19"/>
          <p:cNvSpPr txBox="1"/>
          <p:nvPr/>
        </p:nvSpPr>
        <p:spPr>
          <a:xfrm>
            <a:off x="198700" y="1503375"/>
            <a:ext cx="3000000" cy="18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Fixed ship position 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Colatitude of Ship A: 30 degrees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 position of Ship b: 50km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 position of Ship b: 4km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If within +/- 20 meters in X and Y, and -5 to +30 in Z count as a hit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l="3464" t="7851" r="17433"/>
          <a:stretch/>
        </p:blipFill>
        <p:spPr>
          <a:xfrm>
            <a:off x="4257775" y="1203313"/>
            <a:ext cx="3299376" cy="3400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85425" y="4596055"/>
            <a:ext cx="4844079" cy="3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>
            <a:spLocks noGrp="1"/>
          </p:cNvSpPr>
          <p:nvPr>
            <p:ph type="title"/>
          </p:nvPr>
        </p:nvSpPr>
        <p:spPr>
          <a:xfrm>
            <a:off x="727650" y="6691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2 Code</a:t>
            </a:r>
            <a:endParaRPr/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4825" y="1787089"/>
            <a:ext cx="7688700" cy="15693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1"/>
          <p:cNvSpPr txBox="1">
            <a:spLocks noGrp="1"/>
          </p:cNvSpPr>
          <p:nvPr>
            <p:ph type="title"/>
          </p:nvPr>
        </p:nvSpPr>
        <p:spPr>
          <a:xfrm>
            <a:off x="727650" y="6691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2 Code</a:t>
            </a:r>
            <a:endParaRPr/>
          </a:p>
        </p:txBody>
      </p:sp>
      <p:pic>
        <p:nvPicPr>
          <p:cNvPr id="147" name="Google Shape;147;p21"/>
          <p:cNvPicPr preferRelativeResize="0"/>
          <p:nvPr/>
        </p:nvPicPr>
        <p:blipFill rotWithShape="1">
          <a:blip r:embed="rId3">
            <a:alphaModFix/>
          </a:blip>
          <a:srcRect t="53906"/>
          <a:stretch/>
        </p:blipFill>
        <p:spPr>
          <a:xfrm>
            <a:off x="4695799" y="1204375"/>
            <a:ext cx="4406150" cy="20125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1"/>
          <p:cNvPicPr preferRelativeResize="0"/>
          <p:nvPr/>
        </p:nvPicPr>
        <p:blipFill rotWithShape="1">
          <a:blip r:embed="rId3">
            <a:alphaModFix/>
          </a:blip>
          <a:srcRect t="3870" r="23318" b="62442"/>
          <a:stretch/>
        </p:blipFill>
        <p:spPr>
          <a:xfrm>
            <a:off x="72475" y="1204375"/>
            <a:ext cx="4623323" cy="20125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1"/>
          <p:cNvPicPr preferRelativeResize="0"/>
          <p:nvPr/>
        </p:nvPicPr>
        <p:blipFill rotWithShape="1">
          <a:blip r:embed="rId3">
            <a:alphaModFix/>
          </a:blip>
          <a:srcRect l="6533" t="73108" r="16785"/>
          <a:stretch/>
        </p:blipFill>
        <p:spPr>
          <a:xfrm>
            <a:off x="1965840" y="3216976"/>
            <a:ext cx="5212325" cy="1811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>
            <a:spLocks noGrp="1"/>
          </p:cNvSpPr>
          <p:nvPr>
            <p:ph type="title"/>
          </p:nvPr>
        </p:nvSpPr>
        <p:spPr>
          <a:xfrm>
            <a:off x="727650" y="62990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Moving Enemy Ships (Model 3)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5" name="Google Shape;155;p22"/>
          <p:cNvSpPr txBox="1">
            <a:spLocks noGrp="1"/>
          </p:cNvSpPr>
          <p:nvPr>
            <p:ph type="body" idx="1"/>
          </p:nvPr>
        </p:nvSpPr>
        <p:spPr>
          <a:xfrm>
            <a:off x="266475" y="1203325"/>
            <a:ext cx="1191900" cy="45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u="sng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Assumptions </a:t>
            </a:r>
            <a:endParaRPr sz="1400" b="1" u="sng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4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4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6" name="Google Shape;156;p22"/>
          <p:cNvSpPr txBox="1"/>
          <p:nvPr/>
        </p:nvSpPr>
        <p:spPr>
          <a:xfrm>
            <a:off x="297000" y="3607800"/>
            <a:ext cx="22755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</a:t>
            </a:r>
            <a:r>
              <a:rPr lang="en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  </a:t>
            </a: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Rocket =  820 m/s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</a:t>
            </a:r>
            <a:r>
              <a:rPr lang="en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</a:t>
            </a: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Ship= 19m/s in X and Y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 = 9.8m/s 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mass = 1225 kg 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𝛀 = 7.3*10</a:t>
            </a:r>
            <a:r>
              <a:rPr lang="en" baseline="30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-5 </a:t>
            </a: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rad/s</a:t>
            </a:r>
            <a:endParaRPr/>
          </a:p>
        </p:txBody>
      </p:sp>
      <p:sp>
        <p:nvSpPr>
          <p:cNvPr id="157" name="Google Shape;157;p22"/>
          <p:cNvSpPr txBox="1"/>
          <p:nvPr/>
        </p:nvSpPr>
        <p:spPr>
          <a:xfrm>
            <a:off x="297000" y="3310600"/>
            <a:ext cx="949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b="1" u="sng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Constants</a:t>
            </a:r>
            <a:endParaRPr/>
          </a:p>
        </p:txBody>
      </p:sp>
      <p:sp>
        <p:nvSpPr>
          <p:cNvPr id="158" name="Google Shape;158;p22"/>
          <p:cNvSpPr txBox="1"/>
          <p:nvPr/>
        </p:nvSpPr>
        <p:spPr>
          <a:xfrm>
            <a:off x="198700" y="1503375"/>
            <a:ext cx="3000000" cy="18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Ship B moving at 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Colatitude of Ship A: 30 degrees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 position of Ship b: 50km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y position of Ship b: 4km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If within +/- 20 meters in X and Y, and -5 to +30 in Z count as a hit</a:t>
            </a:r>
            <a:endParaRPr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59" name="Google Shape;159;p22"/>
          <p:cNvPicPr preferRelativeResize="0"/>
          <p:nvPr/>
        </p:nvPicPr>
        <p:blipFill rotWithShape="1">
          <a:blip r:embed="rId3">
            <a:alphaModFix/>
          </a:blip>
          <a:srcRect l="944" t="3953" r="44799" b="3247"/>
          <a:stretch/>
        </p:blipFill>
        <p:spPr>
          <a:xfrm>
            <a:off x="3651250" y="1203325"/>
            <a:ext cx="2275424" cy="2249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2"/>
          <p:cNvPicPr preferRelativeResize="0"/>
          <p:nvPr/>
        </p:nvPicPr>
        <p:blipFill rotWithShape="1">
          <a:blip r:embed="rId3">
            <a:alphaModFix/>
          </a:blip>
          <a:srcRect l="942" r="35773" b="97203"/>
          <a:stretch/>
        </p:blipFill>
        <p:spPr>
          <a:xfrm>
            <a:off x="2787288" y="3452500"/>
            <a:ext cx="3569424" cy="9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2"/>
          <p:cNvPicPr preferRelativeResize="0"/>
          <p:nvPr/>
        </p:nvPicPr>
        <p:blipFill rotWithShape="1">
          <a:blip r:embed="rId4">
            <a:alphaModFix/>
          </a:blip>
          <a:srcRect t="2534"/>
          <a:stretch/>
        </p:blipFill>
        <p:spPr>
          <a:xfrm>
            <a:off x="6571500" y="1188726"/>
            <a:ext cx="2275426" cy="23064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2"/>
          <p:cNvPicPr preferRelativeResize="0"/>
          <p:nvPr/>
        </p:nvPicPr>
        <p:blipFill rotWithShape="1">
          <a:blip r:embed="rId4">
            <a:alphaModFix/>
          </a:blip>
          <a:srcRect r="13487" b="97857"/>
          <a:stretch/>
        </p:blipFill>
        <p:spPr>
          <a:xfrm>
            <a:off x="6724948" y="3488302"/>
            <a:ext cx="1968530" cy="507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>
            <a:spLocks noGrp="1"/>
          </p:cNvSpPr>
          <p:nvPr>
            <p:ph type="title"/>
          </p:nvPr>
        </p:nvSpPr>
        <p:spPr>
          <a:xfrm>
            <a:off x="727650" y="6691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3 Code</a:t>
            </a:r>
            <a:endParaRPr/>
          </a:p>
        </p:txBody>
      </p:sp>
      <p:pic>
        <p:nvPicPr>
          <p:cNvPr id="168" name="Google Shape;168;p23"/>
          <p:cNvPicPr preferRelativeResize="0"/>
          <p:nvPr/>
        </p:nvPicPr>
        <p:blipFill rotWithShape="1">
          <a:blip r:embed="rId3">
            <a:alphaModFix/>
          </a:blip>
          <a:srcRect t="1165" b="58077"/>
          <a:stretch/>
        </p:blipFill>
        <p:spPr>
          <a:xfrm>
            <a:off x="303350" y="1406468"/>
            <a:ext cx="6198425" cy="2614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23"/>
          <p:cNvPicPr preferRelativeResize="0"/>
          <p:nvPr/>
        </p:nvPicPr>
        <p:blipFill rotWithShape="1">
          <a:blip r:embed="rId3">
            <a:alphaModFix/>
          </a:blip>
          <a:srcRect t="41921" r="21537"/>
          <a:stretch/>
        </p:blipFill>
        <p:spPr>
          <a:xfrm>
            <a:off x="4956900" y="2034275"/>
            <a:ext cx="3853901" cy="2952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4"/>
          <p:cNvSpPr txBox="1">
            <a:spLocks noGrp="1"/>
          </p:cNvSpPr>
          <p:nvPr>
            <p:ph type="title"/>
          </p:nvPr>
        </p:nvSpPr>
        <p:spPr>
          <a:xfrm>
            <a:off x="727650" y="669175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3 Code</a:t>
            </a:r>
            <a:endParaRPr/>
          </a:p>
        </p:txBody>
      </p:sp>
      <p:sp>
        <p:nvSpPr>
          <p:cNvPr id="175" name="Google Shape;175;p2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76" name="Google Shape;17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2225" y="1555325"/>
            <a:ext cx="7296150" cy="289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182" name="Google Shape;182;p2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Managed to make an introductory model for modeling the effect the coriolis force has on battleships engagements. Building up from a simplistic model of no movement allowed us to slowly work to a more complicated model, that was a successful</a:t>
            </a:r>
            <a:endParaRPr/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As scientist its important to note the improvements that could be made: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Need to add drag and other possible effects into the simulation</a:t>
            </a:r>
            <a:endParaRPr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/>
              <a:t>Assumes constant velocities for ship and missile, which isn’t truly realistic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6"/>
          <p:cNvSpPr txBox="1">
            <a:spLocks noGrp="1"/>
          </p:cNvSpPr>
          <p:nvPr>
            <p:ph type="title"/>
          </p:nvPr>
        </p:nvSpPr>
        <p:spPr>
          <a:xfrm>
            <a:off x="727650" y="7167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540">
                <a:latin typeface="Times New Roman"/>
                <a:ea typeface="Times New Roman"/>
                <a:cs typeface="Times New Roman"/>
                <a:sym typeface="Times New Roman"/>
              </a:rPr>
              <a:t>References </a:t>
            </a:r>
            <a:endParaRPr sz="254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8" name="Google Shape;188;p26"/>
          <p:cNvSpPr txBox="1">
            <a:spLocks noGrp="1"/>
          </p:cNvSpPr>
          <p:nvPr>
            <p:ph type="body" idx="1"/>
          </p:nvPr>
        </p:nvSpPr>
        <p:spPr>
          <a:xfrm>
            <a:off x="727650" y="14769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23850" algn="l" rtl="0">
              <a:spcBef>
                <a:spcPts val="1200"/>
              </a:spcBef>
              <a:spcAft>
                <a:spcPts val="0"/>
              </a:spcAft>
              <a:buSzPts val="1500"/>
              <a:buFont typeface="Times New Roman"/>
              <a:buChar char="●"/>
            </a:pPr>
            <a:r>
              <a:rPr lang="en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Taylor, John R. </a:t>
            </a:r>
            <a:r>
              <a:rPr lang="en" i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Classical Mechanics</a:t>
            </a:r>
            <a:r>
              <a:rPr lang="en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University Science Books, 2005. 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Times New Roman"/>
              <a:buChar char="●"/>
            </a:pPr>
            <a:r>
              <a:rPr lang="en" u="sng">
                <a:solidFill>
                  <a:schemeClr val="hlink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https://allhands.navy.mil/Features/Zumwalt/</a:t>
            </a:r>
            <a:r>
              <a:rPr lang="en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Times New Roman"/>
              <a:buChar char="●"/>
            </a:pP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“Full History: Battleship New Jersey.” </a:t>
            </a:r>
            <a:r>
              <a:rPr lang="en" sz="1100" i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Battleship New Jersey |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10 Mar. 2025, </a:t>
            </a:r>
            <a:r>
              <a:rPr lang="en" sz="11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www.battleshipnewjersey.org/the-ship/full-history/#:~:text=USS%20New%20Jersey%20has%20an,with%20approximately%201%2C100%20individual%20compartments. 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Times New Roman"/>
              <a:buChar char="●"/>
            </a:pP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806</Words>
  <Application>Microsoft Office PowerPoint</Application>
  <PresentationFormat>On-screen Show (16:9)</PresentationFormat>
  <Paragraphs>89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Times New Roman</vt:lpstr>
      <vt:lpstr>Arial</vt:lpstr>
      <vt:lpstr>Raleway</vt:lpstr>
      <vt:lpstr>Lato</vt:lpstr>
      <vt:lpstr>Streamline</vt:lpstr>
      <vt:lpstr>Modeling Effect of Coriolis Force on long range ballistics</vt:lpstr>
      <vt:lpstr>Table Of contents</vt:lpstr>
      <vt:lpstr>Introduction </vt:lpstr>
      <vt:lpstr>Building The Model - What are we doing </vt:lpstr>
      <vt:lpstr>Fixed Model Without Coriolis Correction (Model 1)</vt:lpstr>
      <vt:lpstr>Model 1 Code</vt:lpstr>
      <vt:lpstr>Fixed Model With Coriolis Correction (Model 2)</vt:lpstr>
      <vt:lpstr>Model 2 Code</vt:lpstr>
      <vt:lpstr>Model 2 Code</vt:lpstr>
      <vt:lpstr>Moving Enemy Ships (Model 3)</vt:lpstr>
      <vt:lpstr>Model 3 Code</vt:lpstr>
      <vt:lpstr>Model 3 Code</vt:lpstr>
      <vt:lpstr>Results</vt:lpstr>
      <vt:lpstr>References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Lilly Byers</dc:creator>
  <cp:lastModifiedBy>Lilly Byers</cp:lastModifiedBy>
  <cp:revision>1</cp:revision>
  <dcterms:modified xsi:type="dcterms:W3CDTF">2026-02-24T20:24:38Z</dcterms:modified>
</cp:coreProperties>
</file>